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Glacial Indifference Bold" charset="1" panose="00000800000000000000"/>
      <p:regular r:id="rId31"/>
    </p:embeddedFont>
    <p:embeddedFont>
      <p:font typeface="Canva Sans Bold" charset="1" panose="020B0803030501040103"/>
      <p:regular r:id="rId32"/>
    </p:embeddedFont>
    <p:embeddedFont>
      <p:font typeface="Poppins" charset="1" panose="00000500000000000000"/>
      <p:regular r:id="rId33"/>
    </p:embeddedFont>
    <p:embeddedFont>
      <p:font typeface="Poppins Bold" charset="1" panose="00000800000000000000"/>
      <p:regular r:id="rId34"/>
    </p:embeddedFont>
    <p:embeddedFont>
      <p:font typeface="Courier New Bold" charset="1" panose="020706090202050204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57052" y="4479336"/>
            <a:ext cx="7173896" cy="181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85"/>
              </a:lnSpc>
            </a:pPr>
            <a:r>
              <a:rPr lang="en-US" sz="150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SYNTRA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93098" y="385517"/>
            <a:ext cx="6742873" cy="139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5"/>
              </a:lnSpc>
            </a:pPr>
            <a:r>
              <a:rPr lang="en-US" sz="6807" spc="-1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388561"/>
            <a:ext cx="14248780" cy="311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Human readable programming language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Its </a:t>
            </a:r>
            <a:r>
              <a:rPr lang="en-US" sz="3500">
                <a:solidFill>
                  <a:srgbClr val="A9663D"/>
                </a:solidFill>
                <a:latin typeface="Poppins"/>
                <a:ea typeface="Poppins"/>
                <a:cs typeface="Poppins"/>
                <a:sym typeface="Poppins"/>
              </a:rPr>
              <a:t>structure 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looks like low level programming languages, and its </a:t>
            </a:r>
            <a:r>
              <a:rPr lang="en-US" sz="3500">
                <a:solidFill>
                  <a:srgbClr val="A9663D"/>
                </a:solidFill>
                <a:latin typeface="Poppins"/>
                <a:ea typeface="Poppins"/>
                <a:cs typeface="Poppins"/>
                <a:sym typeface="Poppins"/>
              </a:rPr>
              <a:t>keywords 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are like high level programming languages (e.g. Python)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896435" y="6411109"/>
            <a:ext cx="4725731" cy="4836389"/>
          </a:xfrm>
          <a:custGeom>
            <a:avLst/>
            <a:gdLst/>
            <a:ahLst/>
            <a:cxnLst/>
            <a:rect r="r" b="b" t="t" l="l"/>
            <a:pathLst>
              <a:path h="4836389" w="4725731">
                <a:moveTo>
                  <a:pt x="0" y="0"/>
                </a:moveTo>
                <a:lnTo>
                  <a:pt x="4725730" y="0"/>
                </a:lnTo>
                <a:lnTo>
                  <a:pt x="4725730" y="4836388"/>
                </a:lnTo>
                <a:lnTo>
                  <a:pt x="0" y="4836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744516" y="2589033"/>
          <a:ext cx="14798967" cy="7236703"/>
        </p:xfrm>
        <a:graphic>
          <a:graphicData uri="http://schemas.openxmlformats.org/drawingml/2006/table">
            <a:tbl>
              <a:tblPr/>
              <a:tblGrid>
                <a:gridCol w="3980584"/>
                <a:gridCol w="4190021"/>
                <a:gridCol w="6628361"/>
              </a:tblGrid>
              <a:tr h="171902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Concept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Keyword in SYNTRA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Example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124151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Functions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action compute() { .. 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312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types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point, distance,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name, flag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point x = 10;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151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Include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use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use core;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151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note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note This is a comment.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650139" y="385517"/>
            <a:ext cx="4987722" cy="139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5"/>
              </a:lnSpc>
            </a:pPr>
            <a:r>
              <a:rPr lang="en-US" sz="6807" spc="-1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KEYWORDS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744516" y="2589033"/>
          <a:ext cx="14798967" cy="7222247"/>
        </p:xfrm>
        <a:graphic>
          <a:graphicData uri="http://schemas.openxmlformats.org/drawingml/2006/table">
            <a:tbl>
              <a:tblPr/>
              <a:tblGrid>
                <a:gridCol w="3980584"/>
                <a:gridCol w="4190021"/>
                <a:gridCol w="6628361"/>
              </a:tblGrid>
              <a:tr h="171903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Concept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Keyword in SYNTRA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Example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124152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Output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show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show "Hello!";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152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get username;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63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repeat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06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900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repeat (point i = 0; i &lt; 10;</a:t>
                      </a:r>
                      <a:endParaRPr lang="en-US" sz="1100"/>
                    </a:p>
                    <a:p>
                      <a:pPr algn="ctr" marL="0" indent="0" lvl="0">
                        <a:lnSpc>
                          <a:spcPts val="4060"/>
                        </a:lnSpc>
                        <a:spcBef>
                          <a:spcPct val="0"/>
                        </a:spcBef>
                      </a:pPr>
                      <a:r>
                        <a:rPr lang="en-US" b="true" sz="2900" strike="noStrike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i++) { ... }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152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when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000000"/>
                          </a:solidFill>
                          <a:latin typeface="Courier New Bold"/>
                          <a:ea typeface="Courier New Bold"/>
                          <a:cs typeface="Courier New Bold"/>
                          <a:sym typeface="Courier New Bold"/>
                        </a:rPr>
                        <a:t>when (x &gt; 10) { ... }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650139" y="385517"/>
            <a:ext cx="4987722" cy="139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5"/>
              </a:lnSpc>
            </a:pPr>
            <a:r>
              <a:rPr lang="en-US" sz="6807" spc="-1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KEYWORDS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46760" y="2904303"/>
            <a:ext cx="9994479" cy="6549014"/>
          </a:xfrm>
          <a:custGeom>
            <a:avLst/>
            <a:gdLst/>
            <a:ahLst/>
            <a:cxnLst/>
            <a:rect r="r" b="b" t="t" l="l"/>
            <a:pathLst>
              <a:path h="6549014" w="9994479">
                <a:moveTo>
                  <a:pt x="0" y="0"/>
                </a:moveTo>
                <a:lnTo>
                  <a:pt x="9994480" y="0"/>
                </a:lnTo>
                <a:lnTo>
                  <a:pt x="9994480" y="6549014"/>
                </a:lnTo>
                <a:lnTo>
                  <a:pt x="0" y="6549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50139" y="385517"/>
            <a:ext cx="4987722" cy="139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5"/>
              </a:lnSpc>
            </a:pPr>
            <a:r>
              <a:rPr lang="en-US" sz="6807" spc="-1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Hello World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1372561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8"/>
                </a:lnTo>
                <a:lnTo>
                  <a:pt x="0" y="1936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37649" y="1693115"/>
            <a:ext cx="581270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0"/>
              </a:lnSpc>
            </a:pPr>
            <a:r>
              <a:rPr lang="en-US" sz="5000" spc="-1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1 - Scanning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752028" y="4175844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30174" y="4495800"/>
            <a:ext cx="581270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0"/>
              </a:lnSpc>
            </a:pPr>
            <a:r>
              <a:rPr lang="en-US" sz="5000" spc="-1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2 - Parsing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752028" y="6977931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8"/>
                </a:lnTo>
                <a:lnTo>
                  <a:pt x="0" y="1936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96941" y="7355635"/>
            <a:ext cx="673903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sz="3999" spc="-8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3 - Semantic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42394" y="385517"/>
            <a:ext cx="3403211" cy="139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5"/>
              </a:lnSpc>
            </a:pPr>
            <a:r>
              <a:rPr lang="en-US" sz="6807" spc="-1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Scanner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642029"/>
            <a:ext cx="16564604" cy="187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Converts raw source code into a list of meaningful Tokens.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Utilizes Regular Expressions (Python re module) to identify patterns.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token has type and value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0736" y="3640527"/>
            <a:ext cx="17846528" cy="6491675"/>
          </a:xfrm>
          <a:custGeom>
            <a:avLst/>
            <a:gdLst/>
            <a:ahLst/>
            <a:cxnLst/>
            <a:rect r="r" b="b" t="t" l="l"/>
            <a:pathLst>
              <a:path h="6491675" w="17846528">
                <a:moveTo>
                  <a:pt x="0" y="0"/>
                </a:moveTo>
                <a:lnTo>
                  <a:pt x="17846528" y="0"/>
                </a:lnTo>
                <a:lnTo>
                  <a:pt x="17846528" y="6491675"/>
                </a:lnTo>
                <a:lnTo>
                  <a:pt x="0" y="6491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42394" y="385517"/>
            <a:ext cx="3403211" cy="139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5"/>
              </a:lnSpc>
            </a:pPr>
            <a:r>
              <a:rPr lang="en-US" sz="6807" spc="-1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Scanner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1031" y="2863803"/>
            <a:ext cx="6413694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Regular Expressions (Regex) 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pattern matching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1461096">
            <a:off x="7485096" y="3535599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0" y="974274"/>
                </a:moveTo>
                <a:lnTo>
                  <a:pt x="2960503" y="974274"/>
                </a:lnTo>
                <a:lnTo>
                  <a:pt x="2960503" y="0"/>
                </a:lnTo>
                <a:lnTo>
                  <a:pt x="0" y="0"/>
                </a:lnTo>
                <a:lnTo>
                  <a:pt x="0" y="97427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83674" y="385517"/>
            <a:ext cx="2720653" cy="139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5"/>
              </a:lnSpc>
            </a:pPr>
            <a:r>
              <a:rPr lang="en-US" sz="6807" spc="-1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1698" y="3827888"/>
            <a:ext cx="16564604" cy="434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Recursive Descent, which is a top-down parsing technique.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parser accepts a list of tokens from the scanner and generates a Parse Tree that represents the code's hierarchical structure.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verifies that the code follows the specific grammar rules of our language.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the structure is invalid, such as a missing semicolon, the system halts and reports the error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08604"/>
            <a:ext cx="11796237" cy="4320372"/>
          </a:xfrm>
          <a:custGeom>
            <a:avLst/>
            <a:gdLst/>
            <a:ahLst/>
            <a:cxnLst/>
            <a:rect r="r" b="b" t="t" l="l"/>
            <a:pathLst>
              <a:path h="4320372" w="11796237">
                <a:moveTo>
                  <a:pt x="0" y="0"/>
                </a:moveTo>
                <a:lnTo>
                  <a:pt x="11796237" y="0"/>
                </a:lnTo>
                <a:lnTo>
                  <a:pt x="11796237" y="4320372"/>
                </a:lnTo>
                <a:lnTo>
                  <a:pt x="0" y="4320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83674" y="385517"/>
            <a:ext cx="2720653" cy="139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5"/>
              </a:lnSpc>
            </a:pPr>
            <a:r>
              <a:rPr lang="en-US" sz="6807" spc="-1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02170" y="4814665"/>
            <a:ext cx="3293426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Parse function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each rule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345561">
            <a:off x="11500254" y="4169403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0" y="974275"/>
                </a:moveTo>
                <a:lnTo>
                  <a:pt x="2960503" y="974275"/>
                </a:lnTo>
                <a:lnTo>
                  <a:pt x="2960503" y="0"/>
                </a:lnTo>
                <a:lnTo>
                  <a:pt x="0" y="0"/>
                </a:lnTo>
                <a:lnTo>
                  <a:pt x="0" y="97427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6478" y="3047652"/>
            <a:ext cx="13226975" cy="3290210"/>
          </a:xfrm>
          <a:custGeom>
            <a:avLst/>
            <a:gdLst/>
            <a:ahLst/>
            <a:cxnLst/>
            <a:rect r="r" b="b" t="t" l="l"/>
            <a:pathLst>
              <a:path h="3290210" w="13226975">
                <a:moveTo>
                  <a:pt x="0" y="0"/>
                </a:moveTo>
                <a:lnTo>
                  <a:pt x="13226975" y="0"/>
                </a:lnTo>
                <a:lnTo>
                  <a:pt x="13226975" y="3290210"/>
                </a:lnTo>
                <a:lnTo>
                  <a:pt x="0" y="3290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345561">
            <a:off x="11975607" y="3047475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0" y="974274"/>
                </a:moveTo>
                <a:lnTo>
                  <a:pt x="2960504" y="974274"/>
                </a:lnTo>
                <a:lnTo>
                  <a:pt x="2960504" y="0"/>
                </a:lnTo>
                <a:lnTo>
                  <a:pt x="0" y="0"/>
                </a:lnTo>
                <a:lnTo>
                  <a:pt x="0" y="97427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77751" y="6658949"/>
            <a:ext cx="7975458" cy="2881134"/>
          </a:xfrm>
          <a:custGeom>
            <a:avLst/>
            <a:gdLst/>
            <a:ahLst/>
            <a:cxnLst/>
            <a:rect r="r" b="b" t="t" l="l"/>
            <a:pathLst>
              <a:path h="2881134" w="7975458">
                <a:moveTo>
                  <a:pt x="0" y="0"/>
                </a:moveTo>
                <a:lnTo>
                  <a:pt x="7975458" y="0"/>
                </a:lnTo>
                <a:lnTo>
                  <a:pt x="7975458" y="2881134"/>
                </a:lnTo>
                <a:lnTo>
                  <a:pt x="0" y="28811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83674" y="385517"/>
            <a:ext cx="2720653" cy="139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45"/>
              </a:lnSpc>
            </a:pPr>
            <a:r>
              <a:rPr lang="en-US" sz="6807" spc="-14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Parser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77523" y="3551027"/>
            <a:ext cx="2683999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Checking tokens (used for terminals)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-345561">
            <a:off x="6734797" y="7466116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2960504" y="974275"/>
                </a:moveTo>
                <a:lnTo>
                  <a:pt x="0" y="974275"/>
                </a:lnTo>
                <a:lnTo>
                  <a:pt x="0" y="0"/>
                </a:lnTo>
                <a:lnTo>
                  <a:pt x="2960504" y="0"/>
                </a:lnTo>
                <a:lnTo>
                  <a:pt x="2960504" y="97427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41700" y="7646622"/>
            <a:ext cx="4259071" cy="161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5"/>
              </a:lnSpc>
            </a:pPr>
            <a:r>
              <a:rPr lang="en-US" sz="30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Consume the current token after successful parse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52028" y="530555"/>
            <a:ext cx="7474186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Semantic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25396"/>
            <a:ext cx="14297534" cy="373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Verifies the meaning and consistency of the code after it has been proven syntactically correct.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Three core parts:</a:t>
            </a:r>
          </a:p>
          <a:p>
            <a:pPr algn="just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Parse Tree</a:t>
            </a:r>
          </a:p>
          <a:p>
            <a:pPr algn="just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Symbol Table</a:t>
            </a:r>
          </a:p>
          <a:p>
            <a:pPr algn="just" marL="1511301" indent="-503767" lvl="2">
              <a:lnSpc>
                <a:spcPts val="4900"/>
              </a:lnSpc>
              <a:spcBef>
                <a:spcPct val="0"/>
              </a:spcBef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type check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4868555"/>
            <a:ext cx="11301259" cy="4633516"/>
          </a:xfrm>
          <a:custGeom>
            <a:avLst/>
            <a:gdLst/>
            <a:ahLst/>
            <a:cxnLst/>
            <a:rect r="r" b="b" t="t" l="l"/>
            <a:pathLst>
              <a:path h="4633516" w="11301259">
                <a:moveTo>
                  <a:pt x="0" y="0"/>
                </a:moveTo>
                <a:lnTo>
                  <a:pt x="11301258" y="0"/>
                </a:lnTo>
                <a:lnTo>
                  <a:pt x="11301258" y="4633516"/>
                </a:lnTo>
                <a:lnTo>
                  <a:pt x="0" y="4633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83943" y="530555"/>
            <a:ext cx="3720114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Parse Tree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82164"/>
            <a:ext cx="16588981" cy="187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new node in the parse tree is created in each parsing function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node represents either a rule or a terminal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node has </a:t>
            </a:r>
            <a:r>
              <a:rPr lang="en-US" sz="3500">
                <a:solidFill>
                  <a:srgbClr val="C47749"/>
                </a:solidFill>
                <a:latin typeface="Poppins"/>
                <a:ea typeface="Poppins"/>
                <a:cs typeface="Poppins"/>
                <a:sym typeface="Poppins"/>
              </a:rPr>
              <a:t>name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500">
                <a:solidFill>
                  <a:srgbClr val="C47749"/>
                </a:solidFill>
                <a:latin typeface="Poppins"/>
                <a:ea typeface="Poppins"/>
                <a:cs typeface="Poppins"/>
                <a:sym typeface="Poppins"/>
              </a:rPr>
              <a:t>value 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a list of </a:t>
            </a:r>
            <a:r>
              <a:rPr lang="en-US" sz="3500">
                <a:solidFill>
                  <a:srgbClr val="C47749"/>
                </a:solidFill>
                <a:latin typeface="Poppins"/>
                <a:ea typeface="Poppins"/>
                <a:cs typeface="Poppins"/>
                <a:sym typeface="Poppins"/>
              </a:rPr>
              <a:t>childern nodes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2327" y="530555"/>
            <a:ext cx="4963345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Sybmol Table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1732" y="4169167"/>
            <a:ext cx="15784537" cy="373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data structure that stores information about identifiers (variables, actions, parameters) declared in the source code.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Implemented as a List </a:t>
            </a:r>
            <a:r>
              <a:rPr lang="en-US" sz="3500">
                <a:solidFill>
                  <a:srgbClr val="BE5211"/>
                </a:solidFill>
                <a:latin typeface="Poppins"/>
                <a:ea typeface="Poppins"/>
                <a:cs typeface="Poppins"/>
                <a:sym typeface="Poppins"/>
              </a:rPr>
              <a:t>(Stack)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Dictionaries. 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dictionary represents a distinct scope (local or global).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entry maps an identifier name (the key) to its associated data (the value).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2327" y="530555"/>
            <a:ext cx="4963345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Sybmol Table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9946" y="3197438"/>
            <a:ext cx="16328108" cy="620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Global Scope: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first dictionary in the list; it persists for the entire program lifecycle.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Local Scopes: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New dictionaries are pushed onto the list when entering a function (action) or code block ({...}).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Lookup Rule: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When searching for a variable, the 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ble che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ck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the current (inner-most) scope, and then sequentially checks the parent scopes until the global scope is reached.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Error Handling:</a:t>
            </a: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It prevents redeclaration of a variable within the same scope.</a:t>
            </a:r>
          </a:p>
          <a:p>
            <a:pPr algn="just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86117" y="4231584"/>
            <a:ext cx="11115766" cy="3765466"/>
          </a:xfrm>
          <a:custGeom>
            <a:avLst/>
            <a:gdLst/>
            <a:ahLst/>
            <a:cxnLst/>
            <a:rect r="r" b="b" t="t" l="l"/>
            <a:pathLst>
              <a:path h="3765466" w="11115766">
                <a:moveTo>
                  <a:pt x="0" y="0"/>
                </a:moveTo>
                <a:lnTo>
                  <a:pt x="11115766" y="0"/>
                </a:lnTo>
                <a:lnTo>
                  <a:pt x="11115766" y="3765466"/>
                </a:lnTo>
                <a:lnTo>
                  <a:pt x="0" y="3765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2327" y="530555"/>
            <a:ext cx="4963345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Sybmol Table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9742" y="2987724"/>
            <a:ext cx="8644573" cy="3284938"/>
          </a:xfrm>
          <a:custGeom>
            <a:avLst/>
            <a:gdLst/>
            <a:ahLst/>
            <a:cxnLst/>
            <a:rect r="r" b="b" t="t" l="l"/>
            <a:pathLst>
              <a:path h="3284938" w="8644573">
                <a:moveTo>
                  <a:pt x="0" y="0"/>
                </a:moveTo>
                <a:lnTo>
                  <a:pt x="8644573" y="0"/>
                </a:lnTo>
                <a:lnTo>
                  <a:pt x="8644573" y="3284938"/>
                </a:lnTo>
                <a:lnTo>
                  <a:pt x="0" y="3284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13685" y="6632511"/>
            <a:ext cx="8644573" cy="2625789"/>
          </a:xfrm>
          <a:custGeom>
            <a:avLst/>
            <a:gdLst/>
            <a:ahLst/>
            <a:cxnLst/>
            <a:rect r="r" b="b" t="t" l="l"/>
            <a:pathLst>
              <a:path h="2625789" w="8644573">
                <a:moveTo>
                  <a:pt x="0" y="0"/>
                </a:moveTo>
                <a:lnTo>
                  <a:pt x="8644573" y="0"/>
                </a:lnTo>
                <a:lnTo>
                  <a:pt x="8644573" y="2625789"/>
                </a:lnTo>
                <a:lnTo>
                  <a:pt x="0" y="26257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345561">
            <a:off x="9185412" y="3133809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0" y="974275"/>
                </a:moveTo>
                <a:lnTo>
                  <a:pt x="2960503" y="974275"/>
                </a:lnTo>
                <a:lnTo>
                  <a:pt x="2960503" y="0"/>
                </a:lnTo>
                <a:lnTo>
                  <a:pt x="0" y="0"/>
                </a:lnTo>
                <a:lnTo>
                  <a:pt x="0" y="97427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2327" y="530555"/>
            <a:ext cx="4963345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Sybmol Table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06209" y="3468547"/>
            <a:ext cx="5745480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b="true" sz="3000" spc="-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Creates a new scope when </a:t>
            </a:r>
          </a:p>
          <a:p>
            <a:pPr algn="ctr">
              <a:lnSpc>
                <a:spcPts val="5220"/>
              </a:lnSpc>
              <a:spcBef>
                <a:spcPct val="0"/>
              </a:spcBef>
            </a:pPr>
            <a:r>
              <a:rPr lang="en-US" b="true" sz="3000" spc="-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entering a new function or block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-345561">
            <a:off x="5388723" y="6723989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2960503" y="974274"/>
                </a:moveTo>
                <a:lnTo>
                  <a:pt x="0" y="974274"/>
                </a:lnTo>
                <a:lnTo>
                  <a:pt x="0" y="0"/>
                </a:lnTo>
                <a:lnTo>
                  <a:pt x="2960503" y="0"/>
                </a:lnTo>
                <a:lnTo>
                  <a:pt x="2960503" y="97427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91713" y="7996748"/>
            <a:ext cx="5880259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  <a:spcBef>
                <a:spcPct val="0"/>
              </a:spcBef>
            </a:pPr>
            <a:r>
              <a:rPr lang="en-US" b="true" sz="3000" spc="-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Removes the scope while leaving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5413" y="6497032"/>
            <a:ext cx="13453564" cy="2993418"/>
          </a:xfrm>
          <a:custGeom>
            <a:avLst/>
            <a:gdLst/>
            <a:ahLst/>
            <a:cxnLst/>
            <a:rect r="r" b="b" t="t" l="l"/>
            <a:pathLst>
              <a:path h="2993418" w="13453564">
                <a:moveTo>
                  <a:pt x="0" y="0"/>
                </a:moveTo>
                <a:lnTo>
                  <a:pt x="13453564" y="0"/>
                </a:lnTo>
                <a:lnTo>
                  <a:pt x="13453564" y="2993418"/>
                </a:lnTo>
                <a:lnTo>
                  <a:pt x="0" y="2993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5413" y="2645009"/>
            <a:ext cx="8321366" cy="3276538"/>
          </a:xfrm>
          <a:custGeom>
            <a:avLst/>
            <a:gdLst/>
            <a:ahLst/>
            <a:cxnLst/>
            <a:rect r="r" b="b" t="t" l="l"/>
            <a:pathLst>
              <a:path h="3276538" w="8321366">
                <a:moveTo>
                  <a:pt x="0" y="0"/>
                </a:moveTo>
                <a:lnTo>
                  <a:pt x="8321365" y="0"/>
                </a:lnTo>
                <a:lnTo>
                  <a:pt x="8321365" y="3276538"/>
                </a:lnTo>
                <a:lnTo>
                  <a:pt x="0" y="3276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2327" y="530555"/>
            <a:ext cx="4963345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Sybmol Table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345561">
            <a:off x="8623757" y="2621890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0" y="974275"/>
                </a:moveTo>
                <a:lnTo>
                  <a:pt x="2960503" y="974275"/>
                </a:lnTo>
                <a:lnTo>
                  <a:pt x="2960503" y="0"/>
                </a:lnTo>
                <a:lnTo>
                  <a:pt x="0" y="0"/>
                </a:lnTo>
                <a:lnTo>
                  <a:pt x="0" y="97427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50728" y="3035495"/>
            <a:ext cx="5078611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b="true" sz="3000" spc="-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Return the type of a variable</a:t>
            </a:r>
          </a:p>
          <a:p>
            <a:pPr algn="ctr">
              <a:lnSpc>
                <a:spcPts val="5220"/>
              </a:lnSpc>
              <a:spcBef>
                <a:spcPct val="0"/>
              </a:spcBef>
            </a:pPr>
            <a:r>
              <a:rPr lang="en-US" b="true" sz="3000" spc="-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(used while datatype check)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08859" y="530555"/>
            <a:ext cx="5670281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Datatype Check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196898"/>
            <a:ext cx="16547502" cy="373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cases need datatype checking</a:t>
            </a:r>
          </a:p>
          <a:p>
            <a:pPr algn="just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Variable Declaration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C47749"/>
                </a:solidFill>
                <a:latin typeface="Poppins"/>
                <a:ea typeface="Poppins"/>
                <a:cs typeface="Poppins"/>
                <a:sym typeface="Poppins"/>
              </a:rPr>
              <a:t>             VarDecl → ("point" | "distance" | "name" | "flag") IDENTIFIER "=" Expr ";"</a:t>
            </a:r>
          </a:p>
          <a:p>
            <a:pPr algn="just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Assignment Statement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C47749"/>
                </a:solidFill>
                <a:latin typeface="Poppins"/>
                <a:ea typeface="Poppins"/>
                <a:cs typeface="Poppins"/>
                <a:sym typeface="Poppins"/>
              </a:rPr>
              <a:t>             AssignStmt → IDENTIFIER "=" Expr ";"</a:t>
            </a:r>
          </a:p>
          <a:p>
            <a:pPr algn="just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58804" y="4343516"/>
            <a:ext cx="6370392" cy="1458485"/>
          </a:xfrm>
          <a:custGeom>
            <a:avLst/>
            <a:gdLst/>
            <a:ahLst/>
            <a:cxnLst/>
            <a:rect r="r" b="b" t="t" l="l"/>
            <a:pathLst>
              <a:path h="1458485" w="6370392">
                <a:moveTo>
                  <a:pt x="0" y="0"/>
                </a:moveTo>
                <a:lnTo>
                  <a:pt x="6370392" y="0"/>
                </a:lnTo>
                <a:lnTo>
                  <a:pt x="6370392" y="1458484"/>
                </a:lnTo>
                <a:lnTo>
                  <a:pt x="0" y="1458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734307">
            <a:off x="4127397" y="4775565"/>
            <a:ext cx="1806142" cy="594385"/>
          </a:xfrm>
          <a:custGeom>
            <a:avLst/>
            <a:gdLst/>
            <a:ahLst/>
            <a:cxnLst/>
            <a:rect r="r" b="b" t="t" l="l"/>
            <a:pathLst>
              <a:path h="594385" w="1806142">
                <a:moveTo>
                  <a:pt x="0" y="594385"/>
                </a:moveTo>
                <a:lnTo>
                  <a:pt x="1806142" y="594385"/>
                </a:lnTo>
                <a:lnTo>
                  <a:pt x="1806142" y="0"/>
                </a:lnTo>
                <a:lnTo>
                  <a:pt x="0" y="0"/>
                </a:lnTo>
                <a:lnTo>
                  <a:pt x="0" y="59438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345561">
            <a:off x="11632901" y="4611063"/>
            <a:ext cx="1806142" cy="594385"/>
          </a:xfrm>
          <a:custGeom>
            <a:avLst/>
            <a:gdLst/>
            <a:ahLst/>
            <a:cxnLst/>
            <a:rect r="r" b="b" t="t" l="l"/>
            <a:pathLst>
              <a:path h="594385" w="1806142">
                <a:moveTo>
                  <a:pt x="0" y="594385"/>
                </a:moveTo>
                <a:lnTo>
                  <a:pt x="1806141" y="594385"/>
                </a:lnTo>
                <a:lnTo>
                  <a:pt x="1806141" y="0"/>
                </a:lnTo>
                <a:lnTo>
                  <a:pt x="0" y="0"/>
                </a:lnTo>
                <a:lnTo>
                  <a:pt x="0" y="59438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52028" y="8544665"/>
            <a:ext cx="7315200" cy="559551"/>
          </a:xfrm>
          <a:custGeom>
            <a:avLst/>
            <a:gdLst/>
            <a:ahLst/>
            <a:cxnLst/>
            <a:rect r="r" b="b" t="t" l="l"/>
            <a:pathLst>
              <a:path h="559551" w="7315200">
                <a:moveTo>
                  <a:pt x="0" y="0"/>
                </a:moveTo>
                <a:lnTo>
                  <a:pt x="7315200" y="0"/>
                </a:lnTo>
                <a:lnTo>
                  <a:pt x="7315200" y="559552"/>
                </a:lnTo>
                <a:lnTo>
                  <a:pt x="0" y="5595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08859" y="530555"/>
            <a:ext cx="5670281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Datatype Check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3103" y="4755856"/>
            <a:ext cx="3121819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b="true" sz="3000" spc="-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Takes expression </a:t>
            </a:r>
          </a:p>
          <a:p>
            <a:pPr algn="ctr">
              <a:lnSpc>
                <a:spcPts val="5220"/>
              </a:lnSpc>
              <a:spcBef>
                <a:spcPct val="0"/>
              </a:spcBef>
            </a:pPr>
            <a:r>
              <a:rPr lang="en-US" b="true" sz="3000" spc="-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node as input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64307" y="4293520"/>
            <a:ext cx="4388525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</a:pPr>
            <a:r>
              <a:rPr lang="en-US" b="true" sz="3000" spc="-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Outputs the datatype of </a:t>
            </a:r>
          </a:p>
          <a:p>
            <a:pPr algn="ctr">
              <a:lnSpc>
                <a:spcPts val="5220"/>
              </a:lnSpc>
              <a:spcBef>
                <a:spcPct val="0"/>
              </a:spcBef>
            </a:pPr>
            <a:r>
              <a:rPr lang="en-US" b="true" sz="3000" spc="-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that expression node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86191" y="7687244"/>
            <a:ext cx="13515618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0"/>
              </a:lnSpc>
              <a:spcBef>
                <a:spcPct val="0"/>
              </a:spcBef>
            </a:pPr>
            <a:r>
              <a:rPr lang="en-US" b="true" sz="3000" spc="-6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Note: Expression can by one term (e.g. a string) or many terms (e.g. 12 + 12.4)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3254506"/>
            <a:ext cx="11301259" cy="6003794"/>
          </a:xfrm>
          <a:custGeom>
            <a:avLst/>
            <a:gdLst/>
            <a:ahLst/>
            <a:cxnLst/>
            <a:rect r="r" b="b" t="t" l="l"/>
            <a:pathLst>
              <a:path h="6003794" w="11301259">
                <a:moveTo>
                  <a:pt x="0" y="0"/>
                </a:moveTo>
                <a:lnTo>
                  <a:pt x="11301258" y="0"/>
                </a:lnTo>
                <a:lnTo>
                  <a:pt x="11301258" y="6003794"/>
                </a:lnTo>
                <a:lnTo>
                  <a:pt x="0" y="6003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78421" y="530555"/>
            <a:ext cx="1331159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7389" y="2647197"/>
            <a:ext cx="5627788" cy="2973774"/>
          </a:xfrm>
          <a:custGeom>
            <a:avLst/>
            <a:gdLst/>
            <a:ahLst/>
            <a:cxnLst/>
            <a:rect r="r" b="b" t="t" l="l"/>
            <a:pathLst>
              <a:path h="2973774" w="5627788">
                <a:moveTo>
                  <a:pt x="0" y="0"/>
                </a:moveTo>
                <a:lnTo>
                  <a:pt x="5627788" y="0"/>
                </a:lnTo>
                <a:lnTo>
                  <a:pt x="5627788" y="2973774"/>
                </a:lnTo>
                <a:lnTo>
                  <a:pt x="0" y="2973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64097" y="6191484"/>
            <a:ext cx="10343749" cy="2865452"/>
          </a:xfrm>
          <a:custGeom>
            <a:avLst/>
            <a:gdLst/>
            <a:ahLst/>
            <a:cxnLst/>
            <a:rect r="r" b="b" t="t" l="l"/>
            <a:pathLst>
              <a:path h="2865452" w="10343749">
                <a:moveTo>
                  <a:pt x="0" y="0"/>
                </a:moveTo>
                <a:lnTo>
                  <a:pt x="10343749" y="0"/>
                </a:lnTo>
                <a:lnTo>
                  <a:pt x="10343749" y="2865452"/>
                </a:lnTo>
                <a:lnTo>
                  <a:pt x="0" y="2865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29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2127" y="2076684"/>
            <a:ext cx="6318311" cy="4114800"/>
          </a:xfrm>
          <a:custGeom>
            <a:avLst/>
            <a:gdLst/>
            <a:ahLst/>
            <a:cxnLst/>
            <a:rect r="r" b="b" t="t" l="l"/>
            <a:pathLst>
              <a:path h="4114800" w="6318311">
                <a:moveTo>
                  <a:pt x="0" y="0"/>
                </a:moveTo>
                <a:lnTo>
                  <a:pt x="6318311" y="0"/>
                </a:lnTo>
                <a:lnTo>
                  <a:pt x="6318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325661">
            <a:off x="6755177" y="5401898"/>
            <a:ext cx="11965897" cy="3655038"/>
          </a:xfrm>
          <a:custGeom>
            <a:avLst/>
            <a:gdLst/>
            <a:ahLst/>
            <a:cxnLst/>
            <a:rect r="r" b="b" t="t" l="l"/>
            <a:pathLst>
              <a:path h="3655038" w="11965897">
                <a:moveTo>
                  <a:pt x="11965897" y="0"/>
                </a:moveTo>
                <a:lnTo>
                  <a:pt x="0" y="0"/>
                </a:lnTo>
                <a:lnTo>
                  <a:pt x="0" y="3655038"/>
                </a:lnTo>
                <a:lnTo>
                  <a:pt x="11965897" y="3655038"/>
                </a:lnTo>
                <a:lnTo>
                  <a:pt x="1196589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345561">
            <a:off x="6142085" y="3051498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0" y="974275"/>
                </a:moveTo>
                <a:lnTo>
                  <a:pt x="2960503" y="974275"/>
                </a:lnTo>
                <a:lnTo>
                  <a:pt x="2960503" y="0"/>
                </a:lnTo>
                <a:lnTo>
                  <a:pt x="0" y="0"/>
                </a:lnTo>
                <a:lnTo>
                  <a:pt x="0" y="97427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345561">
            <a:off x="4362182" y="6742280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2960503" y="974274"/>
                </a:moveTo>
                <a:lnTo>
                  <a:pt x="0" y="974274"/>
                </a:lnTo>
                <a:lnTo>
                  <a:pt x="0" y="0"/>
                </a:lnTo>
                <a:lnTo>
                  <a:pt x="2960503" y="0"/>
                </a:lnTo>
                <a:lnTo>
                  <a:pt x="2960503" y="974274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78421" y="530555"/>
            <a:ext cx="1331159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11928" y="3071911"/>
            <a:ext cx="257942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errors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9044" y="6647111"/>
            <a:ext cx="2579428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Code has errors!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5942" y="3062235"/>
            <a:ext cx="10750746" cy="1974627"/>
          </a:xfrm>
          <a:custGeom>
            <a:avLst/>
            <a:gdLst/>
            <a:ahLst/>
            <a:cxnLst/>
            <a:rect r="r" b="b" t="t" l="l"/>
            <a:pathLst>
              <a:path h="1974627" w="10750746">
                <a:moveTo>
                  <a:pt x="0" y="0"/>
                </a:moveTo>
                <a:lnTo>
                  <a:pt x="10750746" y="0"/>
                </a:lnTo>
                <a:lnTo>
                  <a:pt x="10750746" y="1974627"/>
                </a:lnTo>
                <a:lnTo>
                  <a:pt x="0" y="1974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325661">
            <a:off x="887473" y="2291956"/>
            <a:ext cx="11508048" cy="3515186"/>
          </a:xfrm>
          <a:custGeom>
            <a:avLst/>
            <a:gdLst/>
            <a:ahLst/>
            <a:cxnLst/>
            <a:rect r="r" b="b" t="t" l="l"/>
            <a:pathLst>
              <a:path h="3515186" w="11508048">
                <a:moveTo>
                  <a:pt x="11508048" y="0"/>
                </a:moveTo>
                <a:lnTo>
                  <a:pt x="0" y="0"/>
                </a:lnTo>
                <a:lnTo>
                  <a:pt x="0" y="3515185"/>
                </a:lnTo>
                <a:lnTo>
                  <a:pt x="11508048" y="3515185"/>
                </a:lnTo>
                <a:lnTo>
                  <a:pt x="1150804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345561">
            <a:off x="10410235" y="2769221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0" y="974275"/>
                </a:moveTo>
                <a:lnTo>
                  <a:pt x="2960503" y="974275"/>
                </a:lnTo>
                <a:lnTo>
                  <a:pt x="2960503" y="0"/>
                </a:lnTo>
                <a:lnTo>
                  <a:pt x="0" y="0"/>
                </a:lnTo>
                <a:lnTo>
                  <a:pt x="0" y="9742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66569" y="5532972"/>
            <a:ext cx="4444438" cy="4459817"/>
          </a:xfrm>
          <a:custGeom>
            <a:avLst/>
            <a:gdLst/>
            <a:ahLst/>
            <a:cxnLst/>
            <a:rect r="r" b="b" t="t" l="l"/>
            <a:pathLst>
              <a:path h="4459817" w="4444438">
                <a:moveTo>
                  <a:pt x="0" y="0"/>
                </a:moveTo>
                <a:lnTo>
                  <a:pt x="4444438" y="0"/>
                </a:lnTo>
                <a:lnTo>
                  <a:pt x="4444438" y="4459817"/>
                </a:lnTo>
                <a:lnTo>
                  <a:pt x="0" y="44598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78421" y="530555"/>
            <a:ext cx="1331159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94392" y="2813255"/>
            <a:ext cx="257942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Datatypes do not match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6768659">
            <a:off x="15155668" y="4268531"/>
            <a:ext cx="2810483" cy="924904"/>
          </a:xfrm>
          <a:custGeom>
            <a:avLst/>
            <a:gdLst/>
            <a:ahLst/>
            <a:cxnLst/>
            <a:rect r="r" b="b" t="t" l="l"/>
            <a:pathLst>
              <a:path h="924904" w="2810483">
                <a:moveTo>
                  <a:pt x="0" y="924904"/>
                </a:moveTo>
                <a:lnTo>
                  <a:pt x="2810483" y="924904"/>
                </a:lnTo>
                <a:lnTo>
                  <a:pt x="2810483" y="0"/>
                </a:lnTo>
                <a:lnTo>
                  <a:pt x="0" y="0"/>
                </a:lnTo>
                <a:lnTo>
                  <a:pt x="0" y="9249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55218" y="7083431"/>
            <a:ext cx="5482096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point ⟶ float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distance ⟶ integer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1345599">
            <a:off x="11648111" y="5430070"/>
            <a:ext cx="6318311" cy="4114800"/>
          </a:xfrm>
          <a:custGeom>
            <a:avLst/>
            <a:gdLst/>
            <a:ahLst/>
            <a:cxnLst/>
            <a:rect r="r" b="b" t="t" l="l"/>
            <a:pathLst>
              <a:path h="4114800" w="6318311">
                <a:moveTo>
                  <a:pt x="0" y="0"/>
                </a:moveTo>
                <a:lnTo>
                  <a:pt x="6318311" y="0"/>
                </a:lnTo>
                <a:lnTo>
                  <a:pt x="6318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364845">
            <a:off x="9850660" y="7300429"/>
            <a:ext cx="2810483" cy="924904"/>
          </a:xfrm>
          <a:custGeom>
            <a:avLst/>
            <a:gdLst/>
            <a:ahLst/>
            <a:cxnLst/>
            <a:rect r="r" b="b" t="t" l="l"/>
            <a:pathLst>
              <a:path h="924904" w="2810483">
                <a:moveTo>
                  <a:pt x="2810483" y="924904"/>
                </a:moveTo>
                <a:lnTo>
                  <a:pt x="0" y="924904"/>
                </a:lnTo>
                <a:lnTo>
                  <a:pt x="0" y="0"/>
                </a:lnTo>
                <a:lnTo>
                  <a:pt x="2810483" y="0"/>
                </a:lnTo>
                <a:lnTo>
                  <a:pt x="2810483" y="92490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13784" y="2626158"/>
            <a:ext cx="6895795" cy="6787029"/>
          </a:xfrm>
          <a:custGeom>
            <a:avLst/>
            <a:gdLst/>
            <a:ahLst/>
            <a:cxnLst/>
            <a:rect r="r" b="b" t="t" l="l"/>
            <a:pathLst>
              <a:path h="6787029" w="6895795">
                <a:moveTo>
                  <a:pt x="0" y="0"/>
                </a:moveTo>
                <a:lnTo>
                  <a:pt x="6895795" y="0"/>
                </a:lnTo>
                <a:lnTo>
                  <a:pt x="6895795" y="6787029"/>
                </a:lnTo>
                <a:lnTo>
                  <a:pt x="0" y="67870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28242">
            <a:off x="5268267" y="2675427"/>
            <a:ext cx="2760371" cy="843168"/>
          </a:xfrm>
          <a:custGeom>
            <a:avLst/>
            <a:gdLst/>
            <a:ahLst/>
            <a:cxnLst/>
            <a:rect r="r" b="b" t="t" l="l"/>
            <a:pathLst>
              <a:path h="843168" w="2760371">
                <a:moveTo>
                  <a:pt x="0" y="0"/>
                </a:moveTo>
                <a:lnTo>
                  <a:pt x="2760371" y="0"/>
                </a:lnTo>
                <a:lnTo>
                  <a:pt x="2760371" y="843168"/>
                </a:lnTo>
                <a:lnTo>
                  <a:pt x="0" y="843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78421" y="530555"/>
            <a:ext cx="1331159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345561">
            <a:off x="8941641" y="4279533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0" y="974274"/>
                </a:moveTo>
                <a:lnTo>
                  <a:pt x="2960503" y="974274"/>
                </a:lnTo>
                <a:lnTo>
                  <a:pt x="2960503" y="0"/>
                </a:lnTo>
                <a:lnTo>
                  <a:pt x="0" y="0"/>
                </a:lnTo>
                <a:lnTo>
                  <a:pt x="0" y="97427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535972" y="4232910"/>
            <a:ext cx="2733913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0"/>
              </a:lnSpc>
              <a:spcBef>
                <a:spcPct val="0"/>
              </a:spcBef>
            </a:pPr>
            <a:r>
              <a:rPr lang="en-US" b="true" sz="4500" spc="-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Token List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2028" y="296595"/>
            <a:ext cx="6783943" cy="1936507"/>
          </a:xfrm>
          <a:custGeom>
            <a:avLst/>
            <a:gdLst/>
            <a:ahLst/>
            <a:cxnLst/>
            <a:rect r="r" b="b" t="t" l="l"/>
            <a:pathLst>
              <a:path h="1936507" w="6783943">
                <a:moveTo>
                  <a:pt x="0" y="0"/>
                </a:moveTo>
                <a:lnTo>
                  <a:pt x="6783944" y="0"/>
                </a:lnTo>
                <a:lnTo>
                  <a:pt x="6783944" y="1936507"/>
                </a:lnTo>
                <a:lnTo>
                  <a:pt x="0" y="1936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78421" y="530555"/>
            <a:ext cx="1331159" cy="117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05"/>
              </a:lnSpc>
            </a:pPr>
            <a:r>
              <a:rPr lang="en-US" sz="5807" spc="-12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07523" y="4232910"/>
            <a:ext cx="2820710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0"/>
              </a:lnSpc>
              <a:spcBef>
                <a:spcPct val="0"/>
              </a:spcBef>
            </a:pPr>
            <a:r>
              <a:rPr lang="en-US" b="true" sz="4500" spc="-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Parse Tree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189822" y="2452813"/>
            <a:ext cx="7124412" cy="7423757"/>
          </a:xfrm>
          <a:custGeom>
            <a:avLst/>
            <a:gdLst/>
            <a:ahLst/>
            <a:cxnLst/>
            <a:rect r="r" b="b" t="t" l="l"/>
            <a:pathLst>
              <a:path h="7423757" w="7124412">
                <a:moveTo>
                  <a:pt x="0" y="0"/>
                </a:moveTo>
                <a:lnTo>
                  <a:pt x="7124413" y="0"/>
                </a:lnTo>
                <a:lnTo>
                  <a:pt x="7124413" y="7423758"/>
                </a:lnTo>
                <a:lnTo>
                  <a:pt x="0" y="7423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49056">
            <a:off x="4784894" y="2566808"/>
            <a:ext cx="2284726" cy="697880"/>
          </a:xfrm>
          <a:custGeom>
            <a:avLst/>
            <a:gdLst/>
            <a:ahLst/>
            <a:cxnLst/>
            <a:rect r="r" b="b" t="t" l="l"/>
            <a:pathLst>
              <a:path h="697880" w="2284726">
                <a:moveTo>
                  <a:pt x="0" y="0"/>
                </a:moveTo>
                <a:lnTo>
                  <a:pt x="2284726" y="0"/>
                </a:lnTo>
                <a:lnTo>
                  <a:pt x="2284726" y="697880"/>
                </a:lnTo>
                <a:lnTo>
                  <a:pt x="0" y="6978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345561">
            <a:off x="8519833" y="4315368"/>
            <a:ext cx="2960503" cy="974275"/>
          </a:xfrm>
          <a:custGeom>
            <a:avLst/>
            <a:gdLst/>
            <a:ahLst/>
            <a:cxnLst/>
            <a:rect r="r" b="b" t="t" l="l"/>
            <a:pathLst>
              <a:path h="974275" w="2960503">
                <a:moveTo>
                  <a:pt x="0" y="974274"/>
                </a:moveTo>
                <a:lnTo>
                  <a:pt x="2960503" y="974274"/>
                </a:lnTo>
                <a:lnTo>
                  <a:pt x="2960503" y="0"/>
                </a:lnTo>
                <a:lnTo>
                  <a:pt x="0" y="0"/>
                </a:lnTo>
                <a:lnTo>
                  <a:pt x="0" y="97427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DAG7q3pl-sY</dc:identifier>
  <dcterms:modified xsi:type="dcterms:W3CDTF">2011-08-01T06:04:30Z</dcterms:modified>
  <cp:revision>1</cp:revision>
  <dc:title>SYNTRA</dc:title>
</cp:coreProperties>
</file>